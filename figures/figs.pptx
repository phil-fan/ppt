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</p:sldIdLst>
  <p:sldSz cx="36001325" cy="1800034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0" userDrawn="1">
          <p15:clr>
            <a:srgbClr val="A4A3A4"/>
          </p15:clr>
        </p15:guide>
        <p15:guide id="2" pos="113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8D9"/>
    <a:srgbClr val="CA7D4A"/>
    <a:srgbClr val="E2F0D9"/>
    <a:srgbClr val="EEFDE5"/>
    <a:srgbClr val="080808"/>
    <a:srgbClr val="D3B350"/>
    <a:srgbClr val="3253DC"/>
    <a:srgbClr val="0B2742"/>
    <a:srgbClr val="EF685E"/>
    <a:srgbClr val="FF9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15" autoAdjust="0"/>
    <p:restoredTop sz="93716" autoAdjust="0"/>
  </p:normalViewPr>
  <p:slideViewPr>
    <p:cSldViewPr snapToGrid="0" showGuides="1">
      <p:cViewPr varScale="1">
        <p:scale>
          <a:sx n="35" d="100"/>
          <a:sy n="35" d="100"/>
        </p:scale>
        <p:origin x="636" y="72"/>
      </p:cViewPr>
      <p:guideLst>
        <p:guide orient="horz" pos="5670"/>
        <p:guide pos="113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9AC09-BE53-4836-BAB3-91890CA96D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059DE-85E3-44CC-B17F-44C2A75BE0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1028700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2057400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3085465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4114165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5142865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6171565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7199630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8228330" algn="l" defTabSz="20574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059DE-85E3-44CC-B17F-44C2A75BE0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166" y="2945943"/>
            <a:ext cx="27000994" cy="6266897"/>
          </a:xfrm>
        </p:spPr>
        <p:txBody>
          <a:bodyPr anchor="b"/>
          <a:lstStyle>
            <a:lvl1pPr algn="ctr"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166" y="9454516"/>
            <a:ext cx="27000994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150" indent="0" algn="ctr">
              <a:buNone/>
              <a:defRPr sz="5250"/>
            </a:lvl2pPr>
            <a:lvl3pPr marL="2400300" indent="0" algn="ctr">
              <a:buNone/>
              <a:defRPr sz="4725"/>
            </a:lvl3pPr>
            <a:lvl4pPr marL="3600450" indent="0" algn="ctr">
              <a:buNone/>
              <a:defRPr sz="4200"/>
            </a:lvl4pPr>
            <a:lvl5pPr marL="4799965" indent="0" algn="ctr">
              <a:buNone/>
              <a:defRPr sz="4200"/>
            </a:lvl5pPr>
            <a:lvl6pPr marL="6000115" indent="0" algn="ctr">
              <a:buNone/>
              <a:defRPr sz="4200"/>
            </a:lvl6pPr>
            <a:lvl7pPr marL="7200265" indent="0" algn="ctr">
              <a:buNone/>
              <a:defRPr sz="4200"/>
            </a:lvl7pPr>
            <a:lvl8pPr marL="8400415" indent="0" algn="ctr">
              <a:buNone/>
              <a:defRPr sz="4200"/>
            </a:lvl8pPr>
            <a:lvl9pPr marL="9600565" indent="0" algn="ctr">
              <a:buNone/>
              <a:defRPr sz="4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40" y="4487668"/>
            <a:ext cx="31051143" cy="7487774"/>
          </a:xfrm>
        </p:spPr>
        <p:txBody>
          <a:bodyPr anchor="b"/>
          <a:lstStyle>
            <a:lvl1pPr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340" y="12046280"/>
            <a:ext cx="31051143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150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6004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7999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1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2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04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5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091" y="4791843"/>
            <a:ext cx="15300563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5671" y="4791843"/>
            <a:ext cx="15300563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780" y="958370"/>
            <a:ext cx="31051143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781" y="4412664"/>
            <a:ext cx="15230247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781" y="6575242"/>
            <a:ext cx="15230247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5671" y="4412664"/>
            <a:ext cx="15305252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5671" y="6575242"/>
            <a:ext cx="15305252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782" y="1200044"/>
            <a:ext cx="11611363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5252" y="2591763"/>
            <a:ext cx="18225671" cy="12792138"/>
          </a:xfrm>
        </p:spPr>
        <p:txBody>
          <a:bodyPr/>
          <a:lstStyle>
            <a:lvl1pPr>
              <a:defRPr sz="8400"/>
            </a:lvl1pPr>
            <a:lvl2pPr>
              <a:defRPr sz="7350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782" y="5400199"/>
            <a:ext cx="11611363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782" y="1200044"/>
            <a:ext cx="11611363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5252" y="2591763"/>
            <a:ext cx="18225671" cy="12792138"/>
          </a:xfrm>
        </p:spPr>
        <p:txBody>
          <a:bodyPr anchor="t"/>
          <a:lstStyle>
            <a:lvl1pPr marL="0" indent="0">
              <a:buNone/>
              <a:defRPr sz="8400"/>
            </a:lvl1pPr>
            <a:lvl2pPr marL="1200150" indent="0">
              <a:buNone/>
              <a:defRPr sz="7350"/>
            </a:lvl2pPr>
            <a:lvl3pPr marL="2400300" indent="0">
              <a:buNone/>
              <a:defRPr sz="6300"/>
            </a:lvl3pPr>
            <a:lvl4pPr marL="3600450" indent="0">
              <a:buNone/>
              <a:defRPr sz="5250"/>
            </a:lvl4pPr>
            <a:lvl5pPr marL="4799965" indent="0">
              <a:buNone/>
              <a:defRPr sz="5250"/>
            </a:lvl5pPr>
            <a:lvl6pPr marL="6000115" indent="0">
              <a:buNone/>
              <a:defRPr sz="5250"/>
            </a:lvl6pPr>
            <a:lvl7pPr marL="7200265" indent="0">
              <a:buNone/>
              <a:defRPr sz="5250"/>
            </a:lvl7pPr>
            <a:lvl8pPr marL="8400415" indent="0">
              <a:buNone/>
              <a:defRPr sz="5250"/>
            </a:lvl8pPr>
            <a:lvl9pPr marL="9600565" indent="0">
              <a:buNone/>
              <a:defRPr sz="52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782" y="5400199"/>
            <a:ext cx="11611363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3448" y="958369"/>
            <a:ext cx="7762786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091" y="958369"/>
            <a:ext cx="22838341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091" y="958370"/>
            <a:ext cx="31051143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091" y="4791843"/>
            <a:ext cx="31051143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091" y="16683949"/>
            <a:ext cx="810029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0A695-868A-41FF-951D-1D1E68D9D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5439" y="16683949"/>
            <a:ext cx="12150447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5936" y="16683949"/>
            <a:ext cx="810029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0423C-4E15-49E7-AB11-1CD279F775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00300" rtl="0" eaLnBrk="1" latinLnBrk="0" hangingPunct="1">
        <a:lnSpc>
          <a:spcPct val="90000"/>
        </a:lnSpc>
        <a:spcBef>
          <a:spcPct val="0"/>
        </a:spcBef>
        <a:buNone/>
        <a:defRPr sz="11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latinLnBrk="0" hangingPunct="1">
        <a:lnSpc>
          <a:spcPct val="90000"/>
        </a:lnSpc>
        <a:spcBef>
          <a:spcPts val="2625"/>
        </a:spcBef>
        <a:buFont typeface="Arial" panose="020B060402020209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1pPr>
      <a:lvl2pPr marL="180022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7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1998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1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6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7999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1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2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5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2.png"/><Relationship Id="rId2" Type="http://schemas.openxmlformats.org/officeDocument/2006/relationships/image" Target="../media/image11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.png"/><Relationship Id="rId11" Type="http://schemas.openxmlformats.org/officeDocument/2006/relationships/image" Target="../media/image4.png"/><Relationship Id="rId10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>
            <a:off x="12082371" y="11600682"/>
            <a:ext cx="11836589" cy="2976488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90B7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0671914" y="7034989"/>
            <a:ext cx="14657506" cy="2976488"/>
          </a:xfrm>
          <a:prstGeom prst="roundRect">
            <a:avLst/>
          </a:prstGeom>
          <a:solidFill>
            <a:srgbClr val="FEE8DB"/>
          </a:solidFill>
          <a:ln w="19050">
            <a:solidFill>
              <a:srgbClr val="F7C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3754010" y="2951567"/>
            <a:ext cx="8493315" cy="2693013"/>
          </a:xfrm>
          <a:prstGeom prst="roundRect">
            <a:avLst/>
          </a:prstGeom>
          <a:solidFill>
            <a:srgbClr val="FFEBB2"/>
          </a:solidFill>
          <a:ln w="19050">
            <a:solidFill>
              <a:srgbClr val="FFE38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115612" y="4896406"/>
            <a:ext cx="399716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 Method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303662" y="9135962"/>
            <a:ext cx="2690371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Landmark Age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67529" y="9144096"/>
            <a:ext cx="3487995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Number of Visitors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816321" y="9126918"/>
            <a:ext cx="2910542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 Costs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542009" y="9136777"/>
            <a:ext cx="2690373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Landmark Size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690839" y="13843698"/>
            <a:ext cx="3337176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On-Site 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880076" y="13843698"/>
            <a:ext cx="3852291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Relocation 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770957" y="11533457"/>
            <a:ext cx="42242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6">
                    <a:lumMod val="75000"/>
                  </a:schemeClr>
                </a:solidFill>
                <a:latin typeface="Georgia" panose="02040502050405090303" pitchFamily="18" charset="0"/>
              </a:rPr>
              <a:t>Solution Layer</a:t>
            </a:r>
            <a:endParaRPr lang="zh-CN" altLang="en-US" sz="3150" b="1" dirty="0">
              <a:solidFill>
                <a:schemeClr val="accent6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461457" y="2866189"/>
            <a:ext cx="307619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4">
                    <a:lumMod val="75000"/>
                  </a:schemeClr>
                </a:solidFill>
                <a:latin typeface="Georgia" panose="02040502050405090303" pitchFamily="18" charset="0"/>
              </a:rPr>
              <a:t>Target Layer</a:t>
            </a:r>
            <a:endParaRPr lang="zh-CN" altLang="en-US" sz="3150" b="1" dirty="0">
              <a:solidFill>
                <a:schemeClr val="accent4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705868" y="6971061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rgbClr val="BD6426"/>
                </a:solidFill>
                <a:latin typeface="Georgia" panose="02040502050405090303" pitchFamily="18" charset="0"/>
              </a:rPr>
              <a:t>Criteria Layer</a:t>
            </a:r>
            <a:endParaRPr lang="zh-CN" altLang="en-US" sz="3150" b="1" dirty="0">
              <a:solidFill>
                <a:srgbClr val="BD6426"/>
              </a:solidFill>
              <a:latin typeface="Georgia" panose="02040502050405090303" pitchFamily="18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3271" y="7575408"/>
            <a:ext cx="1413847" cy="1413847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r="5043"/>
          <a:stretch>
            <a:fillRect/>
          </a:stretch>
        </p:blipFill>
        <p:spPr>
          <a:xfrm>
            <a:off x="18779369" y="7661049"/>
            <a:ext cx="1771721" cy="1637722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1733" y="3705699"/>
            <a:ext cx="1275638" cy="1275638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852" y="7644384"/>
            <a:ext cx="1435943" cy="1435943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551" y="7469017"/>
            <a:ext cx="1664563" cy="166456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1692" y="12267158"/>
            <a:ext cx="1442083" cy="1442083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899" y="12090812"/>
            <a:ext cx="1817490" cy="1817490"/>
          </a:xfrm>
          <a:prstGeom prst="rect">
            <a:avLst/>
          </a:prstGeom>
        </p:spPr>
      </p:pic>
      <p:cxnSp>
        <p:nvCxnSpPr>
          <p:cNvPr id="49" name="连接符: 曲线 48"/>
          <p:cNvCxnSpPr>
            <a:stCxn id="26" idx="2"/>
            <a:endCxn id="41" idx="0"/>
          </p:cNvCxnSpPr>
          <p:nvPr/>
        </p:nvCxnSpPr>
        <p:spPr>
          <a:xfrm rot="5400000">
            <a:off x="14392845" y="4036560"/>
            <a:ext cx="1999804" cy="5215844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/>
          <p:cNvCxnSpPr>
            <a:stCxn id="26" idx="2"/>
            <a:endCxn id="33" idx="0"/>
          </p:cNvCxnSpPr>
          <p:nvPr/>
        </p:nvCxnSpPr>
        <p:spPr>
          <a:xfrm rot="16200000" flipH="1">
            <a:off x="19675017" y="3970229"/>
            <a:ext cx="1930827" cy="527952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曲线 56"/>
          <p:cNvCxnSpPr>
            <a:stCxn id="26" idx="2"/>
            <a:endCxn id="35" idx="0"/>
          </p:cNvCxnSpPr>
          <p:nvPr/>
        </p:nvCxnSpPr>
        <p:spPr>
          <a:xfrm rot="16200000" flipH="1">
            <a:off x="17824709" y="5820536"/>
            <a:ext cx="2016472" cy="1664561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曲线 59"/>
          <p:cNvCxnSpPr>
            <a:stCxn id="26" idx="2"/>
            <a:endCxn id="43" idx="0"/>
          </p:cNvCxnSpPr>
          <p:nvPr/>
        </p:nvCxnSpPr>
        <p:spPr>
          <a:xfrm rot="5400000">
            <a:off x="16086034" y="5554380"/>
            <a:ext cx="1824433" cy="200483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曲线 62"/>
          <p:cNvCxnSpPr>
            <a:stCxn id="11" idx="2"/>
            <a:endCxn id="45" idx="0"/>
          </p:cNvCxnSpPr>
          <p:nvPr/>
        </p:nvCxnSpPr>
        <p:spPr>
          <a:xfrm rot="16200000" flipH="1">
            <a:off x="12623405" y="9677827"/>
            <a:ext cx="2614773" cy="256388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/>
          <p:cNvCxnSpPr>
            <a:stCxn id="11" idx="2"/>
            <a:endCxn id="47" idx="0"/>
          </p:cNvCxnSpPr>
          <p:nvPr/>
        </p:nvCxnSpPr>
        <p:spPr>
          <a:xfrm rot="16200000" flipH="1">
            <a:off x="15542531" y="6758700"/>
            <a:ext cx="2438428" cy="8225797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曲线 71"/>
          <p:cNvCxnSpPr>
            <a:stCxn id="14" idx="2"/>
            <a:endCxn id="45" idx="0"/>
          </p:cNvCxnSpPr>
          <p:nvPr/>
        </p:nvCxnSpPr>
        <p:spPr>
          <a:xfrm rot="5400000">
            <a:off x="14242985" y="10622947"/>
            <a:ext cx="2613958" cy="674462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曲线 74"/>
          <p:cNvCxnSpPr>
            <a:stCxn id="14" idx="2"/>
            <a:endCxn id="47" idx="0"/>
          </p:cNvCxnSpPr>
          <p:nvPr/>
        </p:nvCxnSpPr>
        <p:spPr>
          <a:xfrm rot="16200000" flipH="1">
            <a:off x="17162114" y="8378281"/>
            <a:ext cx="2437613" cy="498744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曲线 77"/>
          <p:cNvCxnSpPr>
            <a:stCxn id="12" idx="2"/>
            <a:endCxn id="45" idx="0"/>
          </p:cNvCxnSpPr>
          <p:nvPr/>
        </p:nvCxnSpPr>
        <p:spPr>
          <a:xfrm rot="5400000">
            <a:off x="16158812" y="8714442"/>
            <a:ext cx="2606639" cy="4498793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曲线 80"/>
          <p:cNvCxnSpPr>
            <a:stCxn id="12" idx="2"/>
            <a:endCxn id="47" idx="0"/>
          </p:cNvCxnSpPr>
          <p:nvPr/>
        </p:nvCxnSpPr>
        <p:spPr>
          <a:xfrm rot="16200000" flipH="1">
            <a:off x="19077938" y="10294106"/>
            <a:ext cx="2430294" cy="1163118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/>
          <p:cNvCxnSpPr>
            <a:stCxn id="13" idx="2"/>
            <a:endCxn id="45" idx="0"/>
          </p:cNvCxnSpPr>
          <p:nvPr/>
        </p:nvCxnSpPr>
        <p:spPr>
          <a:xfrm rot="5400000">
            <a:off x="17930256" y="6925820"/>
            <a:ext cx="2623817" cy="805885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曲线 93"/>
          <p:cNvCxnSpPr>
            <a:stCxn id="13" idx="2"/>
            <a:endCxn id="47" idx="0"/>
          </p:cNvCxnSpPr>
          <p:nvPr/>
        </p:nvCxnSpPr>
        <p:spPr>
          <a:xfrm rot="5400000">
            <a:off x="20849382" y="9668602"/>
            <a:ext cx="2447472" cy="2396948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圆: 空心 192"/>
          <p:cNvSpPr/>
          <p:nvPr/>
        </p:nvSpPr>
        <p:spPr>
          <a:xfrm>
            <a:off x="14673483" y="5968707"/>
            <a:ext cx="6280353" cy="5832752"/>
          </a:xfrm>
          <a:prstGeom prst="donut">
            <a:avLst>
              <a:gd name="adj" fmla="val 6584"/>
            </a:avLst>
          </a:prstGeom>
          <a:solidFill>
            <a:srgbClr val="D1E0B5"/>
          </a:solidFill>
          <a:ln>
            <a:solidFill>
              <a:srgbClr val="CCDFB2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28" name="圆: 空心 27"/>
          <p:cNvSpPr/>
          <p:nvPr/>
        </p:nvSpPr>
        <p:spPr>
          <a:xfrm>
            <a:off x="14773826" y="5914756"/>
            <a:ext cx="6302096" cy="5999713"/>
          </a:xfrm>
          <a:prstGeom prst="donut">
            <a:avLst>
              <a:gd name="adj" fmla="val 6584"/>
            </a:avLst>
          </a:prstGeom>
          <a:solidFill>
            <a:srgbClr val="D1E0B5"/>
          </a:solidFill>
          <a:ln>
            <a:solidFill>
              <a:srgbClr val="CCDFB2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2" name="圆: 空心 31"/>
          <p:cNvSpPr/>
          <p:nvPr/>
        </p:nvSpPr>
        <p:spPr>
          <a:xfrm>
            <a:off x="11720284" y="3007725"/>
            <a:ext cx="12409183" cy="11813773"/>
          </a:xfrm>
          <a:prstGeom prst="donut">
            <a:avLst>
              <a:gd name="adj" fmla="val 3560"/>
            </a:avLst>
          </a:prstGeom>
          <a:solidFill>
            <a:srgbClr val="B1D0E5"/>
          </a:solidFill>
          <a:ln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970" dirty="0"/>
              <a:t>V  </a:t>
            </a:r>
            <a:endParaRPr lang="zh-CN" altLang="en-US" sz="7970" dirty="0"/>
          </a:p>
        </p:txBody>
      </p:sp>
      <p:sp>
        <p:nvSpPr>
          <p:cNvPr id="23" name="椭圆 22"/>
          <p:cNvSpPr>
            <a:spLocks noChangeAspect="1"/>
          </p:cNvSpPr>
          <p:nvPr/>
        </p:nvSpPr>
        <p:spPr>
          <a:xfrm>
            <a:off x="19351981" y="6076033"/>
            <a:ext cx="1594021" cy="1517536"/>
          </a:xfrm>
          <a:prstGeom prst="ellipse">
            <a:avLst/>
          </a:prstGeom>
          <a:solidFill>
            <a:srgbClr val="8DAA5C"/>
          </a:solidFill>
          <a:ln>
            <a:solidFill>
              <a:srgbClr val="547D1D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22" name="椭圆 21"/>
          <p:cNvSpPr/>
          <p:nvPr/>
        </p:nvSpPr>
        <p:spPr>
          <a:xfrm>
            <a:off x="12966409" y="12182792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20" name="椭圆 19"/>
          <p:cNvSpPr/>
          <p:nvPr/>
        </p:nvSpPr>
        <p:spPr>
          <a:xfrm>
            <a:off x="16710453" y="7752285"/>
            <a:ext cx="2628876" cy="2502738"/>
          </a:xfrm>
          <a:prstGeom prst="ellipse">
            <a:avLst/>
          </a:prstGeom>
          <a:solidFill>
            <a:srgbClr val="F0ACAD"/>
          </a:solidFill>
          <a:ln>
            <a:solidFill>
              <a:srgbClr val="CF4950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36365" y="2084269"/>
            <a:ext cx="8810917" cy="8085095"/>
          </a:xfrm>
          <a:prstGeom prst="rect">
            <a:avLst/>
          </a:prstGeom>
        </p:spPr>
      </p:pic>
      <p:sp>
        <p:nvSpPr>
          <p:cNvPr id="24" name="椭圆 23"/>
          <p:cNvSpPr>
            <a:spLocks noChangeAspect="1"/>
          </p:cNvSpPr>
          <p:nvPr/>
        </p:nvSpPr>
        <p:spPr>
          <a:xfrm>
            <a:off x="15442322" y="6193834"/>
            <a:ext cx="1593029" cy="1516591"/>
          </a:xfrm>
          <a:prstGeom prst="ellipse">
            <a:avLst/>
          </a:prstGeom>
          <a:solidFill>
            <a:srgbClr val="8DAA5C"/>
          </a:solidFill>
          <a:ln>
            <a:solidFill>
              <a:srgbClr val="547D1D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>
            <a:off x="15171287" y="10326450"/>
            <a:ext cx="1593029" cy="1516591"/>
          </a:xfrm>
          <a:prstGeom prst="ellipse">
            <a:avLst/>
          </a:prstGeom>
          <a:solidFill>
            <a:srgbClr val="8DAA5C"/>
          </a:solidFill>
          <a:ln>
            <a:solidFill>
              <a:srgbClr val="547D1D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 dirty="0"/>
          </a:p>
        </p:txBody>
      </p:sp>
      <p:sp>
        <p:nvSpPr>
          <p:cNvPr id="33" name="椭圆 32"/>
          <p:cNvSpPr/>
          <p:nvPr/>
        </p:nvSpPr>
        <p:spPr>
          <a:xfrm>
            <a:off x="13420888" y="4239305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4" name="椭圆 33"/>
          <p:cNvSpPr/>
          <p:nvPr/>
        </p:nvSpPr>
        <p:spPr>
          <a:xfrm>
            <a:off x="17795511" y="2475622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5" name="椭圆 34"/>
          <p:cNvSpPr/>
          <p:nvPr/>
        </p:nvSpPr>
        <p:spPr>
          <a:xfrm>
            <a:off x="21597849" y="4239305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6" name="椭圆 35"/>
          <p:cNvSpPr/>
          <p:nvPr/>
        </p:nvSpPr>
        <p:spPr>
          <a:xfrm>
            <a:off x="22428859" y="8216017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7" name="椭圆 36"/>
          <p:cNvSpPr/>
          <p:nvPr/>
        </p:nvSpPr>
        <p:spPr>
          <a:xfrm>
            <a:off x="11563285" y="8055939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9" name="椭圆 38"/>
          <p:cNvSpPr/>
          <p:nvPr/>
        </p:nvSpPr>
        <p:spPr>
          <a:xfrm>
            <a:off x="16570695" y="13723725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40" name="椭圆 39"/>
          <p:cNvSpPr/>
          <p:nvPr/>
        </p:nvSpPr>
        <p:spPr>
          <a:xfrm>
            <a:off x="20260718" y="12182792"/>
            <a:ext cx="1803901" cy="1717347"/>
          </a:xfrm>
          <a:prstGeom prst="ellipse">
            <a:avLst/>
          </a:prstGeom>
          <a:solidFill>
            <a:srgbClr val="75B0D2"/>
          </a:solidFill>
          <a:ln>
            <a:solidFill>
              <a:srgbClr val="5592C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 dirty="0"/>
          </a:p>
        </p:txBody>
      </p:sp>
      <p:sp>
        <p:nvSpPr>
          <p:cNvPr id="42" name="椭圆 41"/>
          <p:cNvSpPr>
            <a:spLocks noChangeAspect="1"/>
          </p:cNvSpPr>
          <p:nvPr/>
        </p:nvSpPr>
        <p:spPr>
          <a:xfrm>
            <a:off x="19009156" y="9997753"/>
            <a:ext cx="1593029" cy="1516591"/>
          </a:xfrm>
          <a:prstGeom prst="ellipse">
            <a:avLst/>
          </a:prstGeom>
          <a:solidFill>
            <a:srgbClr val="8DAA5C"/>
          </a:solidFill>
          <a:ln>
            <a:solidFill>
              <a:srgbClr val="547D1D"/>
            </a:solidFill>
            <a:prstDash val="sys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09999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cxnSp>
        <p:nvCxnSpPr>
          <p:cNvPr id="50" name="连接符: 曲线 49"/>
          <p:cNvCxnSpPr>
            <a:stCxn id="23" idx="3"/>
            <a:endCxn id="20" idx="7"/>
          </p:cNvCxnSpPr>
          <p:nvPr/>
        </p:nvCxnSpPr>
        <p:spPr>
          <a:xfrm rot="5400000">
            <a:off x="18896142" y="7429532"/>
            <a:ext cx="747472" cy="631076"/>
          </a:xfrm>
          <a:prstGeom prst="curvedConnector3">
            <a:avLst>
              <a:gd name="adj1" fmla="val 50000"/>
            </a:avLst>
          </a:prstGeom>
          <a:ln w="28575">
            <a:solidFill>
              <a:srgbClr val="547D1D"/>
            </a:solidFill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曲线 58"/>
          <p:cNvCxnSpPr>
            <a:stCxn id="22" idx="7"/>
            <a:endCxn id="25" idx="4"/>
          </p:cNvCxnSpPr>
          <p:nvPr/>
        </p:nvCxnSpPr>
        <p:spPr>
          <a:xfrm rot="5400000" flipH="1" flipV="1">
            <a:off x="14941339" y="11407837"/>
            <a:ext cx="591250" cy="1461666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曲线 61"/>
          <p:cNvCxnSpPr>
            <a:stCxn id="39" idx="1"/>
            <a:endCxn id="25" idx="5"/>
          </p:cNvCxnSpPr>
          <p:nvPr/>
        </p:nvCxnSpPr>
        <p:spPr>
          <a:xfrm rot="16200000" flipV="1">
            <a:off x="15505805" y="12646158"/>
            <a:ext cx="2354282" cy="303850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曲线 65"/>
          <p:cNvCxnSpPr>
            <a:stCxn id="40" idx="1"/>
            <a:endCxn id="42" idx="5"/>
          </p:cNvCxnSpPr>
          <p:nvPr/>
        </p:nvCxnSpPr>
        <p:spPr>
          <a:xfrm rot="16200000" flipV="1">
            <a:off x="19875865" y="11785264"/>
            <a:ext cx="1142046" cy="156006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曲线 68"/>
          <p:cNvCxnSpPr>
            <a:stCxn id="36" idx="2"/>
            <a:endCxn id="42" idx="6"/>
          </p:cNvCxnSpPr>
          <p:nvPr/>
        </p:nvCxnSpPr>
        <p:spPr>
          <a:xfrm rot="10800000" flipV="1">
            <a:off x="20602182" y="9074690"/>
            <a:ext cx="1826677" cy="1681359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曲线 71"/>
          <p:cNvCxnSpPr>
            <a:stCxn id="35" idx="3"/>
            <a:endCxn id="23" idx="7"/>
          </p:cNvCxnSpPr>
          <p:nvPr/>
        </p:nvCxnSpPr>
        <p:spPr>
          <a:xfrm rot="5400000">
            <a:off x="20990729" y="5426979"/>
            <a:ext cx="593120" cy="1149464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曲线 75"/>
          <p:cNvCxnSpPr>
            <a:stCxn id="34" idx="4"/>
            <a:endCxn id="23" idx="0"/>
          </p:cNvCxnSpPr>
          <p:nvPr/>
        </p:nvCxnSpPr>
        <p:spPr>
          <a:xfrm rot="16200000" flipH="1">
            <a:off x="18481692" y="4408738"/>
            <a:ext cx="1883065" cy="1451528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曲线 78"/>
          <p:cNvCxnSpPr>
            <a:stCxn id="33" idx="5"/>
            <a:endCxn id="24" idx="1"/>
          </p:cNvCxnSpPr>
          <p:nvPr/>
        </p:nvCxnSpPr>
        <p:spPr>
          <a:xfrm rot="16200000" flipH="1">
            <a:off x="14962724" y="5703044"/>
            <a:ext cx="710780" cy="715001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曲线 81"/>
          <p:cNvCxnSpPr>
            <a:stCxn id="37" idx="6"/>
            <a:endCxn id="24" idx="2"/>
          </p:cNvCxnSpPr>
          <p:nvPr/>
        </p:nvCxnSpPr>
        <p:spPr>
          <a:xfrm flipV="1">
            <a:off x="13367191" y="6952128"/>
            <a:ext cx="2075133" cy="1962482"/>
          </a:xfrm>
          <a:prstGeom prst="curvedConnector3">
            <a:avLst>
              <a:gd name="adj1" fmla="val 50000"/>
            </a:avLst>
          </a:prstGeom>
          <a:ln w="28575"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图片 8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1467" y="11241981"/>
            <a:ext cx="10673649" cy="13500497"/>
          </a:xfrm>
          <a:prstGeom prst="rect">
            <a:avLst/>
          </a:prstGeom>
        </p:spPr>
      </p:pic>
      <p:sp>
        <p:nvSpPr>
          <p:cNvPr id="114" name="文本框 113"/>
          <p:cNvSpPr txBox="1"/>
          <p:nvPr/>
        </p:nvSpPr>
        <p:spPr>
          <a:xfrm>
            <a:off x="16145009" y="8649901"/>
            <a:ext cx="3753853" cy="940514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zh-CN" sz="2755" b="1" dirty="0">
                <a:solidFill>
                  <a:srgbClr val="CF495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Leadership </a:t>
            </a:r>
            <a:endParaRPr lang="en-US" altLang="zh-CN" sz="2755" b="1" dirty="0">
              <a:solidFill>
                <a:srgbClr val="CF4950"/>
              </a:solidFill>
              <a:latin typeface="Georgia" panose="02040502050405090303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755" b="1" dirty="0">
                <a:solidFill>
                  <a:srgbClr val="CF495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Assessment</a:t>
            </a:r>
            <a:endParaRPr lang="zh-CN" altLang="en-US" sz="2755" dirty="0">
              <a:solidFill>
                <a:srgbClr val="CF4950"/>
              </a:solidFill>
              <a:latin typeface="Georgia" panose="02040502050405090303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25" name="连接符: 曲线 124"/>
          <p:cNvCxnSpPr>
            <a:stCxn id="42" idx="1"/>
          </p:cNvCxnSpPr>
          <p:nvPr/>
        </p:nvCxnSpPr>
        <p:spPr>
          <a:xfrm rot="16200000" flipV="1">
            <a:off x="18786819" y="9764227"/>
            <a:ext cx="610487" cy="300769"/>
          </a:xfrm>
          <a:prstGeom prst="curvedConnector3">
            <a:avLst>
              <a:gd name="adj1" fmla="val 50000"/>
            </a:avLst>
          </a:prstGeom>
          <a:ln w="28575">
            <a:solidFill>
              <a:srgbClr val="547D1D"/>
            </a:solidFill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9550257" y="6522821"/>
            <a:ext cx="1756289" cy="455830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r>
              <a:rPr lang="en-US" altLang="zh-CN" sz="2360" b="1" dirty="0">
                <a:solidFill>
                  <a:schemeClr val="bg1"/>
                </a:solidFill>
                <a:latin typeface="Georgia" panose="02040502050405090303" pitchFamily="18" charset="0"/>
              </a:rPr>
              <a:t>Group</a:t>
            </a:r>
            <a:endParaRPr lang="zh-CN" altLang="en-US" sz="2360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cxnSp>
        <p:nvCxnSpPr>
          <p:cNvPr id="157" name="连接符: 曲线 156"/>
          <p:cNvCxnSpPr>
            <a:stCxn id="24" idx="5"/>
            <a:endCxn id="20" idx="1"/>
          </p:cNvCxnSpPr>
          <p:nvPr/>
        </p:nvCxnSpPr>
        <p:spPr>
          <a:xfrm rot="16200000" flipH="1">
            <a:off x="16633512" y="7656871"/>
            <a:ext cx="630478" cy="293391"/>
          </a:xfrm>
          <a:prstGeom prst="curvedConnector3">
            <a:avLst>
              <a:gd name="adj1" fmla="val 50000"/>
            </a:avLst>
          </a:prstGeom>
          <a:ln w="28575">
            <a:solidFill>
              <a:srgbClr val="547D1D"/>
            </a:solidFill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曲线 164"/>
          <p:cNvCxnSpPr>
            <a:stCxn id="25" idx="7"/>
            <a:endCxn id="20" idx="3"/>
          </p:cNvCxnSpPr>
          <p:nvPr/>
        </p:nvCxnSpPr>
        <p:spPr>
          <a:xfrm rot="5400000" flipH="1" flipV="1">
            <a:off x="16483213" y="9936314"/>
            <a:ext cx="660042" cy="564426"/>
          </a:xfrm>
          <a:prstGeom prst="curvedConnector3">
            <a:avLst>
              <a:gd name="adj1" fmla="val 50000"/>
            </a:avLst>
          </a:prstGeom>
          <a:ln w="28575">
            <a:solidFill>
              <a:srgbClr val="547D1D"/>
            </a:solidFill>
            <a:prstDash val="solid"/>
            <a:tailEnd type="triangle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19019568" y="10383760"/>
            <a:ext cx="1593029" cy="819327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zh-CN" sz="2360" b="1" dirty="0">
                <a:solidFill>
                  <a:schemeClr val="bg1"/>
                </a:solidFill>
                <a:latin typeface="Georgia" panose="02040502050405090303" pitchFamily="18" charset="0"/>
              </a:rPr>
              <a:t>Environment</a:t>
            </a:r>
            <a:endParaRPr lang="zh-CN" altLang="en-US" sz="2360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14997349" y="10882076"/>
            <a:ext cx="1989583" cy="425501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zh-CN" sz="2165" b="1" dirty="0">
                <a:solidFill>
                  <a:schemeClr val="bg1"/>
                </a:solidFill>
                <a:latin typeface="Georgia" panose="02040502050405090303" pitchFamily="18" charset="0"/>
              </a:rPr>
              <a:t>Action</a:t>
            </a:r>
            <a:endParaRPr lang="zh-CN" altLang="en-US" sz="2165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15244044" y="6783360"/>
            <a:ext cx="1989583" cy="369332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Georgia" panose="02040502050405090303" pitchFamily="18" charset="0"/>
              </a:rPr>
              <a:t>Thought</a:t>
            </a:r>
            <a:endParaRPr lang="zh-CN" altLang="en-US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11506730" y="8667938"/>
            <a:ext cx="1989583" cy="425501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统一标准</a:t>
            </a:r>
            <a:endParaRPr lang="zh-CN" altLang="en-US" dirty="0"/>
          </a:p>
        </p:txBody>
      </p:sp>
      <p:sp>
        <p:nvSpPr>
          <p:cNvPr id="195" name="文本框 194"/>
          <p:cNvSpPr txBox="1"/>
          <p:nvPr/>
        </p:nvSpPr>
        <p:spPr>
          <a:xfrm>
            <a:off x="20049151" y="12862533"/>
            <a:ext cx="2354711" cy="365036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内部环境</a:t>
            </a:r>
            <a:endParaRPr lang="zh-CN" altLang="en-US" dirty="0"/>
          </a:p>
        </p:txBody>
      </p:sp>
      <p:sp>
        <p:nvSpPr>
          <p:cNvPr id="198" name="文本框 197"/>
          <p:cNvSpPr txBox="1"/>
          <p:nvPr/>
        </p:nvSpPr>
        <p:spPr>
          <a:xfrm>
            <a:off x="22131006" y="8897253"/>
            <a:ext cx="2354711" cy="410433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外部环境</a:t>
            </a:r>
            <a:endParaRPr lang="zh-CN" altLang="en-US" dirty="0"/>
          </a:p>
        </p:txBody>
      </p:sp>
      <p:sp>
        <p:nvSpPr>
          <p:cNvPr id="200" name="文本框 199"/>
          <p:cNvSpPr txBox="1"/>
          <p:nvPr/>
        </p:nvSpPr>
        <p:spPr>
          <a:xfrm>
            <a:off x="16295289" y="14423120"/>
            <a:ext cx="2354711" cy="410433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zh-CN" altLang="en-US" sz="2065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要事第一</a:t>
            </a:r>
            <a:endParaRPr lang="en-US" altLang="zh-CN" sz="2065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21322443" y="4892761"/>
            <a:ext cx="2354711" cy="410433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关心与同理</a:t>
            </a:r>
            <a:endParaRPr lang="zh-CN" altLang="en-US" dirty="0"/>
          </a:p>
        </p:txBody>
      </p:sp>
      <p:sp>
        <p:nvSpPr>
          <p:cNvPr id="210" name="文本框 209"/>
          <p:cNvSpPr txBox="1"/>
          <p:nvPr/>
        </p:nvSpPr>
        <p:spPr>
          <a:xfrm>
            <a:off x="17520104" y="3128512"/>
            <a:ext cx="2354711" cy="410433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分权</a:t>
            </a:r>
            <a:endParaRPr lang="zh-CN" altLang="en-US" dirty="0"/>
          </a:p>
        </p:txBody>
      </p:sp>
      <p:sp>
        <p:nvSpPr>
          <p:cNvPr id="213" name="文本框 212"/>
          <p:cNvSpPr txBox="1"/>
          <p:nvPr/>
        </p:nvSpPr>
        <p:spPr>
          <a:xfrm>
            <a:off x="13259051" y="4820089"/>
            <a:ext cx="2265654" cy="410433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意义构建</a:t>
            </a:r>
            <a:endParaRPr lang="zh-CN" altLang="en-US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2694959" y="12897890"/>
            <a:ext cx="2265654" cy="410433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10000"/>
              </a:prstClr>
            </a:outerShdw>
          </a:effectLst>
          <a:scene3d>
            <a:camera prst="orthographicFront">
              <a:rot lat="900000" lon="20100000" rev="0"/>
            </a:camera>
            <a:lightRig rig="threePt" dir="t"/>
          </a:scene3d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65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创造紧迫</a:t>
            </a:r>
            <a:endParaRPr lang="zh-CN" altLang="en-US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41" b="20243"/>
          <a:stretch>
            <a:fillRect/>
          </a:stretch>
        </p:blipFill>
        <p:spPr>
          <a:xfrm>
            <a:off x="14931982" y="6050410"/>
            <a:ext cx="6952493" cy="3583069"/>
          </a:xfrm>
          <a:prstGeom prst="rect">
            <a:avLst/>
          </a:prstGeom>
          <a:effectLst>
            <a:softEdge rad="165100"/>
          </a:effectLst>
        </p:spPr>
      </p:pic>
      <p:pic>
        <p:nvPicPr>
          <p:cNvPr id="159" name="图片 158"/>
          <p:cNvPicPr>
            <a:picLocks noChangeAspect="1"/>
          </p:cNvPicPr>
          <p:nvPr/>
        </p:nvPicPr>
        <p:blipFill rotWithShape="1">
          <a:blip r:embed="rId2"/>
          <a:srcRect l="26789" t="5751" b="5595"/>
          <a:stretch>
            <a:fillRect/>
          </a:stretch>
        </p:blipFill>
        <p:spPr>
          <a:xfrm>
            <a:off x="25104256" y="890670"/>
            <a:ext cx="2141947" cy="1382658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9502655" y="1086292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" name="矩形: 圆角 6"/>
          <p:cNvSpPr/>
          <p:nvPr/>
        </p:nvSpPr>
        <p:spPr>
          <a:xfrm>
            <a:off x="14175523" y="666829"/>
            <a:ext cx="17193477" cy="420817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8" name="矩形: 圆角 7"/>
          <p:cNvSpPr/>
          <p:nvPr/>
        </p:nvSpPr>
        <p:spPr>
          <a:xfrm>
            <a:off x="9537852" y="6339970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9" name="矩形: 圆角 8"/>
          <p:cNvSpPr/>
          <p:nvPr/>
        </p:nvSpPr>
        <p:spPr>
          <a:xfrm>
            <a:off x="14184801" y="5616685"/>
            <a:ext cx="17193477" cy="5124602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0" name="矩形: 圆角 9"/>
          <p:cNvSpPr/>
          <p:nvPr/>
        </p:nvSpPr>
        <p:spPr>
          <a:xfrm>
            <a:off x="9518627" y="12699293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1" name="矩形: 圆角 10"/>
          <p:cNvSpPr/>
          <p:nvPr/>
        </p:nvSpPr>
        <p:spPr>
          <a:xfrm>
            <a:off x="14175521" y="11460563"/>
            <a:ext cx="17193477" cy="612704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22929349" y="5974318"/>
            <a:ext cx="4657049" cy="4273115"/>
            <a:chOff x="7075841" y="6501324"/>
            <a:chExt cx="4642418" cy="4259690"/>
          </a:xfrm>
        </p:grpSpPr>
        <p:sp>
          <p:nvSpPr>
            <p:cNvPr id="18" name="矩形: 圆角 17"/>
            <p:cNvSpPr/>
            <p:nvPr/>
          </p:nvSpPr>
          <p:spPr>
            <a:xfrm>
              <a:off x="7075842" y="6501324"/>
              <a:ext cx="4642417" cy="4248896"/>
            </a:xfrm>
            <a:prstGeom prst="round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970"/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7075841" y="9992979"/>
              <a:ext cx="4642417" cy="768035"/>
            </a:xfrm>
            <a:prstGeom prst="roundRect">
              <a:avLst>
                <a:gd name="adj" fmla="val 36876"/>
              </a:avLst>
            </a:prstGeom>
            <a:solidFill>
              <a:srgbClr val="DAD8D9"/>
            </a:solidFill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970" dirty="0"/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/>
          <a:srcRect t="48924" r="43573"/>
          <a:stretch>
            <a:fillRect/>
          </a:stretch>
        </p:blipFill>
        <p:spPr>
          <a:xfrm>
            <a:off x="14833977" y="1179084"/>
            <a:ext cx="3910354" cy="2368776"/>
          </a:xfrm>
          <a:prstGeom prst="rect">
            <a:avLst/>
          </a:prstGeom>
        </p:spPr>
      </p:pic>
      <p:sp>
        <p:nvSpPr>
          <p:cNvPr id="32" name="矩形: 圆角 31"/>
          <p:cNvSpPr/>
          <p:nvPr/>
        </p:nvSpPr>
        <p:spPr>
          <a:xfrm>
            <a:off x="14571945" y="897059"/>
            <a:ext cx="9431055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3" name="矩形: 圆角 32"/>
          <p:cNvSpPr/>
          <p:nvPr/>
        </p:nvSpPr>
        <p:spPr>
          <a:xfrm>
            <a:off x="14571943" y="3837010"/>
            <a:ext cx="9431055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6204" y="1071033"/>
            <a:ext cx="2365667" cy="2365667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8293" y="1262135"/>
            <a:ext cx="1905000" cy="1905000"/>
          </a:xfrm>
          <a:prstGeom prst="rect">
            <a:avLst/>
          </a:prstGeom>
        </p:spPr>
      </p:pic>
      <p:sp>
        <p:nvSpPr>
          <p:cNvPr id="49" name="矩形: 圆角 48"/>
          <p:cNvSpPr/>
          <p:nvPr/>
        </p:nvSpPr>
        <p:spPr>
          <a:xfrm>
            <a:off x="19779233" y="11990461"/>
            <a:ext cx="6004615" cy="3695806"/>
          </a:xfrm>
          <a:prstGeom prst="roundRect">
            <a:avLst/>
          </a:prstGeom>
          <a:solidFill>
            <a:srgbClr val="FEE8DB"/>
          </a:solidFill>
          <a:ln w="19050">
            <a:solidFill>
              <a:srgbClr val="F7C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15052450" y="11981260"/>
            <a:ext cx="4180974" cy="3695806"/>
          </a:xfrm>
          <a:prstGeom prst="roundRect">
            <a:avLst/>
          </a:prstGeom>
          <a:solidFill>
            <a:srgbClr val="FFEBB2"/>
          </a:solidFill>
          <a:ln w="19050">
            <a:solidFill>
              <a:srgbClr val="FFE38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5140596" y="14500731"/>
            <a:ext cx="399716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 Method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665018" y="15297022"/>
            <a:ext cx="269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Landmark Age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9719395" y="15311798"/>
            <a:ext cx="3487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Number of Visitors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9932321" y="13788598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Protection Costs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2600476" y="13793870"/>
            <a:ext cx="2690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Landmark Size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5668133" y="12055845"/>
            <a:ext cx="307619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4">
                    <a:lumMod val="75000"/>
                  </a:schemeClr>
                </a:solidFill>
                <a:latin typeface="Georgia" panose="02040502050405090303" pitchFamily="18" charset="0"/>
              </a:rPr>
              <a:t>Target Layer</a:t>
            </a:r>
            <a:endParaRPr lang="zh-CN" altLang="en-US" sz="3150" b="1" dirty="0">
              <a:solidFill>
                <a:schemeClr val="accent4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0460478" y="12043887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rgbClr val="BD6426"/>
                </a:solidFill>
                <a:latin typeface="Georgia" panose="02040502050405090303" pitchFamily="18" charset="0"/>
              </a:rPr>
              <a:t>Criteria Layer</a:t>
            </a:r>
            <a:endParaRPr lang="zh-CN" altLang="en-US" sz="3150" b="1" dirty="0">
              <a:solidFill>
                <a:srgbClr val="BD6426"/>
              </a:solidFill>
              <a:latin typeface="Georgia" panose="02040502050405090303" pitchFamily="18" charset="0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r="5043"/>
          <a:stretch>
            <a:fillRect/>
          </a:stretch>
        </p:blipFill>
        <p:spPr>
          <a:xfrm>
            <a:off x="20958202" y="14477094"/>
            <a:ext cx="1001288" cy="925558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039" y="13079165"/>
            <a:ext cx="1275638" cy="1275638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0354" y="12773996"/>
            <a:ext cx="1059701" cy="1059701"/>
          </a:xfrm>
          <a:prstGeom prst="rect">
            <a:avLst/>
          </a:prstGeom>
        </p:spPr>
      </p:pic>
      <p:sp>
        <p:nvSpPr>
          <p:cNvPr id="48" name="矩形: 圆角 47"/>
          <p:cNvSpPr/>
          <p:nvPr/>
        </p:nvSpPr>
        <p:spPr>
          <a:xfrm>
            <a:off x="26267690" y="11990461"/>
            <a:ext cx="4469037" cy="3686605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90B7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7780785" y="12853356"/>
            <a:ext cx="3337176" cy="94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On-Site</a:t>
            </a:r>
            <a:endParaRPr lang="en-US" altLang="zh-CN" sz="2755" dirty="0">
              <a:latin typeface="Georgia" panose="02040502050405090303" pitchFamily="18" charset="0"/>
            </a:endParaRPr>
          </a:p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8385490" y="14386855"/>
            <a:ext cx="2127766" cy="94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Relocation</a:t>
            </a:r>
            <a:endParaRPr lang="en-US" altLang="zh-CN" sz="2755" dirty="0">
              <a:latin typeface="Georgia" panose="02040502050405090303" pitchFamily="18" charset="0"/>
            </a:endParaRPr>
          </a:p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6392873" y="12065047"/>
            <a:ext cx="42242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6">
                    <a:lumMod val="75000"/>
                  </a:schemeClr>
                </a:solidFill>
                <a:latin typeface="Georgia" panose="02040502050405090303" pitchFamily="18" charset="0"/>
              </a:rPr>
              <a:t>Solution Layer</a:t>
            </a:r>
            <a:endParaRPr lang="zh-CN" altLang="en-US" sz="3150" b="1" dirty="0">
              <a:solidFill>
                <a:schemeClr val="accent6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334" y="12836444"/>
            <a:ext cx="957426" cy="957426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9468" y="14340771"/>
            <a:ext cx="940514" cy="940514"/>
          </a:xfrm>
          <a:prstGeom prst="rect">
            <a:avLst/>
          </a:prstGeom>
        </p:spPr>
      </p:pic>
      <p:sp>
        <p:nvSpPr>
          <p:cNvPr id="92" name="矩形: 圆角 91"/>
          <p:cNvSpPr/>
          <p:nvPr/>
        </p:nvSpPr>
        <p:spPr>
          <a:xfrm>
            <a:off x="14571942" y="11736183"/>
            <a:ext cx="16595478" cy="4852600"/>
          </a:xfrm>
          <a:prstGeom prst="roundRect">
            <a:avLst>
              <a:gd name="adj" fmla="val 16472"/>
            </a:avLst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83" name="矩形: 圆顶角 82"/>
          <p:cNvSpPr/>
          <p:nvPr/>
        </p:nvSpPr>
        <p:spPr>
          <a:xfrm>
            <a:off x="14571942" y="15840381"/>
            <a:ext cx="16595478" cy="757292"/>
          </a:xfrm>
          <a:prstGeom prst="round2SameRect">
            <a:avLst>
              <a:gd name="adj1" fmla="val 16667"/>
              <a:gd name="adj2" fmla="val 50000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93" name="文本框 92"/>
          <p:cNvSpPr txBox="1"/>
          <p:nvPr/>
        </p:nvSpPr>
        <p:spPr>
          <a:xfrm>
            <a:off x="20618612" y="15879949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AHP MODEL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cxnSp>
        <p:nvCxnSpPr>
          <p:cNvPr id="99" name="连接符: 肘形 98"/>
          <p:cNvCxnSpPr>
            <a:stCxn id="48" idx="2"/>
            <a:endCxn id="103" idx="3"/>
          </p:cNvCxnSpPr>
          <p:nvPr/>
        </p:nvCxnSpPr>
        <p:spPr>
          <a:xfrm rot="5400000">
            <a:off x="26929454" y="15510995"/>
            <a:ext cx="1406685" cy="1738826"/>
          </a:xfrm>
          <a:prstGeom prst="bentConnector2">
            <a:avLst/>
          </a:prstGeom>
          <a:ln w="76200">
            <a:solidFill>
              <a:srgbClr val="547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/>
          <p:cNvSpPr/>
          <p:nvPr/>
        </p:nvSpPr>
        <p:spPr>
          <a:xfrm>
            <a:off x="18967468" y="16770754"/>
            <a:ext cx="7795915" cy="625994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06" name="文本框 105"/>
          <p:cNvSpPr txBox="1"/>
          <p:nvPr/>
        </p:nvSpPr>
        <p:spPr>
          <a:xfrm>
            <a:off x="19518371" y="16815063"/>
            <a:ext cx="699716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Linear Programming Model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cxnSp>
        <p:nvCxnSpPr>
          <p:cNvPr id="107" name="连接符: 肘形 106"/>
          <p:cNvCxnSpPr>
            <a:stCxn id="103" idx="1"/>
            <a:endCxn id="50" idx="2"/>
          </p:cNvCxnSpPr>
          <p:nvPr/>
        </p:nvCxnSpPr>
        <p:spPr>
          <a:xfrm rot="10800000">
            <a:off x="17142938" y="15677067"/>
            <a:ext cx="1824531" cy="1406685"/>
          </a:xfrm>
          <a:prstGeom prst="bentConnector2">
            <a:avLst/>
          </a:prstGeom>
          <a:ln w="762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>
            <a:stCxn id="63" idx="3"/>
            <a:endCxn id="142" idx="1"/>
          </p:cNvCxnSpPr>
          <p:nvPr/>
        </p:nvCxnSpPr>
        <p:spPr>
          <a:xfrm flipV="1">
            <a:off x="17769677" y="13353688"/>
            <a:ext cx="3241093" cy="363296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63" idx="3"/>
            <a:endCxn id="62" idx="1"/>
          </p:cNvCxnSpPr>
          <p:nvPr/>
        </p:nvCxnSpPr>
        <p:spPr>
          <a:xfrm>
            <a:off x="17769677" y="13716984"/>
            <a:ext cx="3188525" cy="1222889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曲线 121"/>
          <p:cNvCxnSpPr>
            <a:stCxn id="65" idx="3"/>
            <a:endCxn id="67" idx="1"/>
          </p:cNvCxnSpPr>
          <p:nvPr/>
        </p:nvCxnSpPr>
        <p:spPr>
          <a:xfrm>
            <a:off x="24540055" y="13303847"/>
            <a:ext cx="2459413" cy="1507181"/>
          </a:xfrm>
          <a:prstGeom prst="curvedConnector3">
            <a:avLst>
              <a:gd name="adj1" fmla="val 58219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曲线 124"/>
          <p:cNvCxnSpPr>
            <a:stCxn id="65" idx="3"/>
            <a:endCxn id="66" idx="1"/>
          </p:cNvCxnSpPr>
          <p:nvPr/>
        </p:nvCxnSpPr>
        <p:spPr>
          <a:xfrm>
            <a:off x="24540055" y="13303847"/>
            <a:ext cx="2366279" cy="11310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曲线 127"/>
          <p:cNvCxnSpPr>
            <a:endCxn id="66" idx="1"/>
          </p:cNvCxnSpPr>
          <p:nvPr/>
        </p:nvCxnSpPr>
        <p:spPr>
          <a:xfrm flipV="1">
            <a:off x="24541767" y="13315157"/>
            <a:ext cx="2364567" cy="1524723"/>
          </a:xfrm>
          <a:prstGeom prst="curvedConnector3">
            <a:avLst>
              <a:gd name="adj1" fmla="val 60584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曲线 131"/>
          <p:cNvCxnSpPr>
            <a:endCxn id="67" idx="1"/>
          </p:cNvCxnSpPr>
          <p:nvPr/>
        </p:nvCxnSpPr>
        <p:spPr>
          <a:xfrm flipV="1">
            <a:off x="24540055" y="14811028"/>
            <a:ext cx="2459413" cy="11217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图片 14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8598" y="14441728"/>
            <a:ext cx="898348" cy="898348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770" y="12937811"/>
            <a:ext cx="831753" cy="831753"/>
          </a:xfrm>
          <a:prstGeom prst="rect">
            <a:avLst/>
          </a:prstGeom>
        </p:spPr>
      </p:pic>
      <p:sp>
        <p:nvSpPr>
          <p:cNvPr id="145" name="文本框 144"/>
          <p:cNvSpPr txBox="1"/>
          <p:nvPr/>
        </p:nvSpPr>
        <p:spPr>
          <a:xfrm>
            <a:off x="15730611" y="3942558"/>
            <a:ext cx="73192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Data Collection And Analysis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15659716" y="3421567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Extreme Weather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18468583" y="3399055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Weather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21117055" y="3399055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Insurance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149" name="矩形: 圆角 148"/>
          <p:cNvSpPr/>
          <p:nvPr/>
        </p:nvSpPr>
        <p:spPr>
          <a:xfrm>
            <a:off x="24686392" y="872662"/>
            <a:ext cx="2862232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51" name="矩形: 圆角 150"/>
          <p:cNvSpPr/>
          <p:nvPr/>
        </p:nvSpPr>
        <p:spPr>
          <a:xfrm>
            <a:off x="28297257" y="910218"/>
            <a:ext cx="2820706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52" name="矩形: 圆角 151"/>
          <p:cNvSpPr/>
          <p:nvPr/>
        </p:nvSpPr>
        <p:spPr>
          <a:xfrm>
            <a:off x="28297255" y="3837010"/>
            <a:ext cx="2820706" cy="770451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53" name="箭头: 右 152"/>
          <p:cNvSpPr/>
          <p:nvPr/>
        </p:nvSpPr>
        <p:spPr>
          <a:xfrm>
            <a:off x="24075905" y="2334309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箭头: 右 155"/>
          <p:cNvSpPr/>
          <p:nvPr/>
        </p:nvSpPr>
        <p:spPr>
          <a:xfrm>
            <a:off x="27629994" y="2338272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7" name="文本框 156"/>
          <p:cNvSpPr txBox="1"/>
          <p:nvPr/>
        </p:nvSpPr>
        <p:spPr>
          <a:xfrm>
            <a:off x="23262439" y="9584952"/>
            <a:ext cx="41465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Risk  Assessment</a:t>
            </a:r>
            <a:endParaRPr lang="en-US" altLang="zh-CN" sz="3150" b="1" dirty="0">
              <a:latin typeface="Georgia" panose="02040502050405090303" pitchFamily="18" charset="0"/>
            </a:endParaRPr>
          </a:p>
        </p:txBody>
      </p:sp>
      <p:pic>
        <p:nvPicPr>
          <p:cNvPr id="161" name="图片 160"/>
          <p:cNvPicPr>
            <a:picLocks noChangeAspect="1"/>
          </p:cNvPicPr>
          <p:nvPr/>
        </p:nvPicPr>
        <p:blipFill rotWithShape="1">
          <a:blip r:embed="rId13"/>
          <a:srcRect l="34264" t="8575" r="4662" b="14433"/>
          <a:stretch>
            <a:fillRect/>
          </a:stretch>
        </p:blipFill>
        <p:spPr>
          <a:xfrm>
            <a:off x="25108362" y="2370783"/>
            <a:ext cx="2055190" cy="1381070"/>
          </a:xfrm>
          <a:prstGeom prst="rect">
            <a:avLst/>
          </a:prstGeom>
        </p:spPr>
      </p:pic>
      <p:sp>
        <p:nvSpPr>
          <p:cNvPr id="162" name="矩形 161"/>
          <p:cNvSpPr/>
          <p:nvPr/>
        </p:nvSpPr>
        <p:spPr>
          <a:xfrm>
            <a:off x="25025685" y="931739"/>
            <a:ext cx="2213672" cy="138265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/>
          <p:cNvSpPr/>
          <p:nvPr/>
        </p:nvSpPr>
        <p:spPr>
          <a:xfrm>
            <a:off x="25025685" y="2369457"/>
            <a:ext cx="2213672" cy="138265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: 圆角 149"/>
          <p:cNvSpPr/>
          <p:nvPr/>
        </p:nvSpPr>
        <p:spPr>
          <a:xfrm>
            <a:off x="24686390" y="3850117"/>
            <a:ext cx="2862232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64" name="文本框 163"/>
          <p:cNvSpPr txBox="1"/>
          <p:nvPr/>
        </p:nvSpPr>
        <p:spPr>
          <a:xfrm>
            <a:off x="23844961" y="3929510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ARIMA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pic>
        <p:nvPicPr>
          <p:cNvPr id="165" name="图片 1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95588" y="5947828"/>
            <a:ext cx="3359117" cy="3446263"/>
          </a:xfrm>
          <a:prstGeom prst="rect">
            <a:avLst/>
          </a:prstGeom>
        </p:spPr>
      </p:pic>
      <p:sp>
        <p:nvSpPr>
          <p:cNvPr id="170" name="矩形: 圆角 169"/>
          <p:cNvSpPr/>
          <p:nvPr/>
        </p:nvSpPr>
        <p:spPr>
          <a:xfrm>
            <a:off x="14667024" y="5965508"/>
            <a:ext cx="7482410" cy="426228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73" name="矩形: 圆顶角 172"/>
          <p:cNvSpPr/>
          <p:nvPr/>
        </p:nvSpPr>
        <p:spPr>
          <a:xfrm>
            <a:off x="14667024" y="9507286"/>
            <a:ext cx="7482410" cy="757292"/>
          </a:xfrm>
          <a:prstGeom prst="round2SameRect">
            <a:avLst>
              <a:gd name="adj1" fmla="val 16667"/>
              <a:gd name="adj2" fmla="val 50000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74" name="矩形: 圆角 173"/>
          <p:cNvSpPr/>
          <p:nvPr/>
        </p:nvSpPr>
        <p:spPr>
          <a:xfrm>
            <a:off x="28306538" y="5987087"/>
            <a:ext cx="2820706" cy="4236741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75" name="矩形: 圆角 174"/>
          <p:cNvSpPr/>
          <p:nvPr/>
        </p:nvSpPr>
        <p:spPr>
          <a:xfrm>
            <a:off x="28306536" y="9490141"/>
            <a:ext cx="2820706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76" name="文本框 175"/>
          <p:cNvSpPr txBox="1"/>
          <p:nvPr/>
        </p:nvSpPr>
        <p:spPr>
          <a:xfrm>
            <a:off x="14748616" y="9582834"/>
            <a:ext cx="73192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Risk Index Analysis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177" name="箭头: 右 176"/>
          <p:cNvSpPr/>
          <p:nvPr/>
        </p:nvSpPr>
        <p:spPr>
          <a:xfrm>
            <a:off x="22266601" y="7856661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箭头: 右 177"/>
          <p:cNvSpPr/>
          <p:nvPr/>
        </p:nvSpPr>
        <p:spPr>
          <a:xfrm>
            <a:off x="27708059" y="7940043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9" name="文本框 178"/>
          <p:cNvSpPr txBox="1"/>
          <p:nvPr/>
        </p:nvSpPr>
        <p:spPr>
          <a:xfrm>
            <a:off x="28393254" y="9566719"/>
            <a:ext cx="27014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GLM Model</a:t>
            </a:r>
            <a:endParaRPr lang="en-US" altLang="zh-CN" sz="3150" b="1" dirty="0">
              <a:latin typeface="Georgia" panose="02040502050405090303" pitchFamily="18" charset="0"/>
            </a:endParaRPr>
          </a:p>
        </p:txBody>
      </p:sp>
      <p:pic>
        <p:nvPicPr>
          <p:cNvPr id="181" name="图片 18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0832" y="6270373"/>
            <a:ext cx="1233551" cy="1233551"/>
          </a:xfrm>
          <a:prstGeom prst="rect">
            <a:avLst/>
          </a:prstGeom>
        </p:spPr>
      </p:pic>
      <p:pic>
        <p:nvPicPr>
          <p:cNvPr id="185" name="图片 18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2844" y="7791873"/>
            <a:ext cx="1401776" cy="1401776"/>
          </a:xfrm>
          <a:prstGeom prst="rect">
            <a:avLst/>
          </a:prstGeom>
        </p:spPr>
      </p:pic>
      <p:cxnSp>
        <p:nvCxnSpPr>
          <p:cNvPr id="187" name="连接符: 肘形 186"/>
          <p:cNvCxnSpPr>
            <a:stCxn id="152" idx="2"/>
            <a:endCxn id="170" idx="0"/>
          </p:cNvCxnSpPr>
          <p:nvPr/>
        </p:nvCxnSpPr>
        <p:spPr>
          <a:xfrm rot="5400000">
            <a:off x="23378896" y="-363205"/>
            <a:ext cx="1358047" cy="11299379"/>
          </a:xfrm>
          <a:prstGeom prst="bentConnector3">
            <a:avLst/>
          </a:prstGeom>
          <a:ln w="76200">
            <a:solidFill>
              <a:srgbClr val="D3B3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2" name="图片 19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567" y="1488404"/>
            <a:ext cx="1597707" cy="1452461"/>
          </a:xfrm>
          <a:prstGeom prst="rect">
            <a:avLst/>
          </a:prstGeom>
        </p:spPr>
      </p:pic>
      <p:sp>
        <p:nvSpPr>
          <p:cNvPr id="193" name="文本框 192"/>
          <p:cNvSpPr txBox="1"/>
          <p:nvPr/>
        </p:nvSpPr>
        <p:spPr>
          <a:xfrm>
            <a:off x="9303109" y="3220938"/>
            <a:ext cx="41860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Insurance Company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0005807" y="8571650"/>
            <a:ext cx="288922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Real-estate Company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10025004" y="15114111"/>
            <a:ext cx="288922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Community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pic>
        <p:nvPicPr>
          <p:cNvPr id="198" name="图片 19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293" y="13413305"/>
            <a:ext cx="1995595" cy="1489250"/>
          </a:xfrm>
          <a:prstGeom prst="rect">
            <a:avLst/>
          </a:prstGeom>
        </p:spPr>
      </p:pic>
      <p:pic>
        <p:nvPicPr>
          <p:cNvPr id="1040" name="Picture 16" descr="Lennar Announces On-Site Opening of Welcome Home Center at Arden, South ...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728" y="6449023"/>
            <a:ext cx="4332929" cy="268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图片 199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3621" y="1419707"/>
            <a:ext cx="2046463" cy="2046463"/>
          </a:xfrm>
          <a:prstGeom prst="rect">
            <a:avLst/>
          </a:prstGeom>
        </p:spPr>
      </p:pic>
      <p:sp>
        <p:nvSpPr>
          <p:cNvPr id="201" name="文本框 200"/>
          <p:cNvSpPr txBox="1"/>
          <p:nvPr/>
        </p:nvSpPr>
        <p:spPr>
          <a:xfrm>
            <a:off x="29400787" y="1508402"/>
            <a:ext cx="58589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bg1"/>
                </a:solidFill>
                <a:latin typeface="Georgia" panose="02040502050405090303" pitchFamily="18" charset="0"/>
              </a:rPr>
              <a:t>1</a:t>
            </a:r>
            <a:endParaRPr lang="zh-CN" altLang="en-US" sz="315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29414662" y="2039098"/>
            <a:ext cx="585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Georgia" panose="02040502050405090303" pitchFamily="18" charset="0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29414662" y="2514216"/>
            <a:ext cx="585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Georgia" panose="02040502050405090303" pitchFamily="18" charset="0"/>
              </a:rPr>
              <a:t>3</a:t>
            </a:r>
            <a:endParaRPr lang="zh-CN" altLang="en-US" sz="240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29414662" y="2987148"/>
            <a:ext cx="585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Georgia" panose="02040502050405090303" pitchFamily="18" charset="0"/>
              </a:rPr>
              <a:t>4</a:t>
            </a:r>
            <a:endParaRPr lang="zh-CN" altLang="en-US" sz="240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28449627" y="3929510"/>
            <a:ext cx="25887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Evaluation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592</Words>
  <Application>WPS 演示</Application>
  <PresentationFormat>自定义</PresentationFormat>
  <Paragraphs>107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4" baseType="lpstr">
      <vt:lpstr>Arial</vt:lpstr>
      <vt:lpstr>宋体</vt:lpstr>
      <vt:lpstr>Wingdings</vt:lpstr>
      <vt:lpstr>Georgia</vt:lpstr>
      <vt:lpstr>Times New Roman</vt:lpstr>
      <vt:lpstr>华文中宋</vt:lpstr>
      <vt:lpstr>思源宋体 Heavy</vt:lpstr>
      <vt:lpstr>汉仪书宋二KW</vt:lpstr>
      <vt:lpstr>等线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Helvetica Neue</vt:lpstr>
      <vt:lpstr>Calibri</vt:lpstr>
      <vt:lpstr>思源宋体 Heavy</vt:lpstr>
      <vt:lpstr>等线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 philfan</dc:creator>
  <cp:lastModifiedBy>Huawei Fan</cp:lastModifiedBy>
  <cp:revision>121</cp:revision>
  <dcterms:created xsi:type="dcterms:W3CDTF">2025-12-16T02:40:49Z</dcterms:created>
  <dcterms:modified xsi:type="dcterms:W3CDTF">2025-12-16T02:40:49Z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3FCFCED9705AECCAAB87A868D9CE1C7E_42</vt:lpwstr>
  </property>
  <property fmtid="{D5CDD505-2E9C-101B-9397-08002B2CF9AE}" pid="3" name="KSOProductBuildVer">
    <vt:lpwstr>2052-12.1.22553.22553</vt:lpwstr>
  </property>
</Properties>
</file>